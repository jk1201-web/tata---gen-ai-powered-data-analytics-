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Poppins" charset="1" panose="00000500000000000000"/>
      <p:regular r:id="rId14"/>
    </p:embeddedFont>
    <p:embeddedFont>
      <p:font typeface="Canva Sans" charset="1" panose="020B0503030501040103"/>
      <p:regular r:id="rId15"/>
    </p:embeddedFont>
    <p:embeddedFont>
      <p:font typeface="Canva Sans Bold" charset="1" panose="020B0803030501040103"/>
      <p:regular r:id="rId16"/>
    </p:embeddedFont>
    <p:embeddedFont>
      <p:font typeface="Lato Bold" charset="1" panose="020F0502020204030203"/>
      <p:regular r:id="rId17"/>
    </p:embeddedFont>
    <p:embeddedFont>
      <p:font typeface="Lato" charset="1" panose="020F05020202040302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51837" y="289333"/>
            <a:ext cx="12112509" cy="8707633"/>
          </a:xfrm>
          <a:custGeom>
            <a:avLst/>
            <a:gdLst/>
            <a:ahLst/>
            <a:cxnLst/>
            <a:rect r="r" b="b" t="t" l="l"/>
            <a:pathLst>
              <a:path h="8707633" w="12112509">
                <a:moveTo>
                  <a:pt x="0" y="0"/>
                </a:moveTo>
                <a:lnTo>
                  <a:pt x="12112509" y="0"/>
                </a:lnTo>
                <a:lnTo>
                  <a:pt x="12112509" y="8707633"/>
                </a:lnTo>
                <a:lnTo>
                  <a:pt x="0" y="870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1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28665" y="1875396"/>
            <a:ext cx="11411477" cy="4436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40"/>
              </a:lnSpc>
            </a:pPr>
            <a:r>
              <a:rPr lang="en-US" sz="10309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AI - POWERED COLLECTION STRATEGY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8665" y="6833868"/>
            <a:ext cx="7762921" cy="169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Leveraging Agentic AI for Scalable, fair, and Effective Debt Management at Geldium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542318">
            <a:off x="12037037" y="-954371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47874" y="7962921"/>
            <a:ext cx="5747719" cy="3384081"/>
          </a:xfrm>
          <a:custGeom>
            <a:avLst/>
            <a:gdLst/>
            <a:ahLst/>
            <a:cxnLst/>
            <a:rect r="r" b="b" t="t" l="l"/>
            <a:pathLst>
              <a:path h="3384081" w="5747719">
                <a:moveTo>
                  <a:pt x="0" y="0"/>
                </a:moveTo>
                <a:lnTo>
                  <a:pt x="5747719" y="0"/>
                </a:lnTo>
                <a:lnTo>
                  <a:pt x="5747719" y="3384080"/>
                </a:lnTo>
                <a:lnTo>
                  <a:pt x="0" y="338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02" t="0" r="0" b="-14318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77667" y="1839074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1" y="0"/>
                </a:lnTo>
                <a:lnTo>
                  <a:pt x="896421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04307"/>
            <a:ext cx="14699892" cy="925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0"/>
              </a:lnSpc>
            </a:pPr>
            <a:r>
              <a:rPr lang="en-US" sz="61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HOW THE SYSTEM WORKS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5985" y="2878369"/>
            <a:ext cx="15967473" cy="538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BF9F1"/>
                </a:solidFill>
                <a:latin typeface="Canva Sans"/>
                <a:ea typeface="Canva Sans"/>
                <a:cs typeface="Canva Sans"/>
                <a:sym typeface="Canva Sans"/>
              </a:rPr>
              <a:t>Customer Data  Input  :  Repayment history, credit score, income, customer interactions.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BF9F1"/>
                </a:solidFill>
                <a:latin typeface="Canva Sans"/>
                <a:ea typeface="Canva Sans"/>
                <a:cs typeface="Canva Sans"/>
                <a:sym typeface="Canva Sans"/>
              </a:rPr>
              <a:t>Decision Logic Engine  : AI model predicts risk and suggest actions.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BF9F1"/>
                </a:solidFill>
                <a:latin typeface="Canva Sans"/>
                <a:ea typeface="Canva Sans"/>
                <a:cs typeface="Canva Sans"/>
                <a:sym typeface="Canva Sans"/>
              </a:rPr>
              <a:t>Action Module  : Sends personalized reminders, plans, or escalations.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BF9F1"/>
                </a:solidFill>
                <a:latin typeface="Canva Sans"/>
                <a:ea typeface="Canva Sans"/>
                <a:cs typeface="Canva Sans"/>
                <a:sym typeface="Canva Sans"/>
              </a:rPr>
              <a:t>Learning Loop  : Continuosly refines decisions based on outcomes.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83875" y="0"/>
            <a:ext cx="6904125" cy="10287000"/>
            <a:chOff x="0" y="0"/>
            <a:chExt cx="950116" cy="14156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0116" cy="1415652"/>
            </a:xfrm>
            <a:custGeom>
              <a:avLst/>
              <a:gdLst/>
              <a:ahLst/>
              <a:cxnLst/>
              <a:rect r="r" b="b" t="t" l="l"/>
              <a:pathLst>
                <a:path h="1415652" w="950116">
                  <a:moveTo>
                    <a:pt x="0" y="0"/>
                  </a:moveTo>
                  <a:lnTo>
                    <a:pt x="950116" y="0"/>
                  </a:lnTo>
                  <a:lnTo>
                    <a:pt x="950116" y="1415652"/>
                  </a:lnTo>
                  <a:lnTo>
                    <a:pt x="0" y="1415652"/>
                  </a:lnTo>
                  <a:close/>
                </a:path>
              </a:pathLst>
            </a:custGeom>
            <a:blipFill>
              <a:blip r:embed="rId2"/>
              <a:stretch>
                <a:fillRect l="0" t="-9244" r="-8446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2389218"/>
            <a:ext cx="12577332" cy="7231032"/>
            <a:chOff x="0" y="0"/>
            <a:chExt cx="3312548" cy="19044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12549" cy="1904469"/>
            </a:xfrm>
            <a:custGeom>
              <a:avLst/>
              <a:gdLst/>
              <a:ahLst/>
              <a:cxnLst/>
              <a:rect r="r" b="b" t="t" l="l"/>
              <a:pathLst>
                <a:path h="1904469" w="3312549">
                  <a:moveTo>
                    <a:pt x="12311" y="0"/>
                  </a:moveTo>
                  <a:lnTo>
                    <a:pt x="3300238" y="0"/>
                  </a:lnTo>
                  <a:cubicBezTo>
                    <a:pt x="3307037" y="0"/>
                    <a:pt x="3312549" y="5512"/>
                    <a:pt x="3312549" y="12311"/>
                  </a:cubicBezTo>
                  <a:lnTo>
                    <a:pt x="3312549" y="1892158"/>
                  </a:lnTo>
                  <a:cubicBezTo>
                    <a:pt x="3312549" y="1895423"/>
                    <a:pt x="3311251" y="1898555"/>
                    <a:pt x="3308943" y="1900863"/>
                  </a:cubicBezTo>
                  <a:cubicBezTo>
                    <a:pt x="3306634" y="1903172"/>
                    <a:pt x="3303503" y="1904469"/>
                    <a:pt x="3300238" y="1904469"/>
                  </a:cubicBezTo>
                  <a:lnTo>
                    <a:pt x="12311" y="1904469"/>
                  </a:lnTo>
                  <a:cubicBezTo>
                    <a:pt x="5512" y="1904469"/>
                    <a:pt x="0" y="1898957"/>
                    <a:pt x="0" y="1892158"/>
                  </a:cubicBezTo>
                  <a:lnTo>
                    <a:pt x="0" y="12311"/>
                  </a:lnTo>
                  <a:cubicBezTo>
                    <a:pt x="0" y="9046"/>
                    <a:pt x="1297" y="5915"/>
                    <a:pt x="3606" y="3606"/>
                  </a:cubicBezTo>
                  <a:cubicBezTo>
                    <a:pt x="5915" y="1297"/>
                    <a:pt x="9046" y="0"/>
                    <a:pt x="12311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12548" cy="1942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6626729">
            <a:off x="-8130685" y="1817905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12631" y="378290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90641" y="3654806"/>
            <a:ext cx="9763998" cy="418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CUSTOMER DATA INPUT 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RISK PREDICTION ENGINE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PERSONALIZED ACTION MODEL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OUTCOME MONITORING AND LEARNING LOOP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5400000">
            <a:off x="6699252" y="4327205"/>
            <a:ext cx="746778" cy="471540"/>
          </a:xfrm>
          <a:custGeom>
            <a:avLst/>
            <a:gdLst/>
            <a:ahLst/>
            <a:cxnLst/>
            <a:rect r="r" b="b" t="t" l="l"/>
            <a:pathLst>
              <a:path h="471540" w="746778">
                <a:moveTo>
                  <a:pt x="0" y="0"/>
                </a:moveTo>
                <a:lnTo>
                  <a:pt x="746778" y="0"/>
                </a:lnTo>
                <a:lnTo>
                  <a:pt x="746778" y="471540"/>
                </a:lnTo>
                <a:lnTo>
                  <a:pt x="0" y="4715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933450"/>
            <a:ext cx="13807237" cy="88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WORKFLOW DIAGRAM 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5400000">
            <a:off x="6708207" y="5542946"/>
            <a:ext cx="746778" cy="471540"/>
          </a:xfrm>
          <a:custGeom>
            <a:avLst/>
            <a:gdLst/>
            <a:ahLst/>
            <a:cxnLst/>
            <a:rect r="r" b="b" t="t" l="l"/>
            <a:pathLst>
              <a:path h="471540" w="746778">
                <a:moveTo>
                  <a:pt x="0" y="0"/>
                </a:moveTo>
                <a:lnTo>
                  <a:pt x="746778" y="0"/>
                </a:lnTo>
                <a:lnTo>
                  <a:pt x="746778" y="471540"/>
                </a:lnTo>
                <a:lnTo>
                  <a:pt x="0" y="4715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400000">
            <a:off x="6717163" y="6758687"/>
            <a:ext cx="746778" cy="471540"/>
          </a:xfrm>
          <a:custGeom>
            <a:avLst/>
            <a:gdLst/>
            <a:ahLst/>
            <a:cxnLst/>
            <a:rect r="r" b="b" t="t" l="l"/>
            <a:pathLst>
              <a:path h="471540" w="746778">
                <a:moveTo>
                  <a:pt x="0" y="0"/>
                </a:moveTo>
                <a:lnTo>
                  <a:pt x="746778" y="0"/>
                </a:lnTo>
                <a:lnTo>
                  <a:pt x="746778" y="471540"/>
                </a:lnTo>
                <a:lnTo>
                  <a:pt x="0" y="4715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438636" y="4802688"/>
            <a:ext cx="8729104" cy="681625"/>
            <a:chOff x="0" y="0"/>
            <a:chExt cx="2299023" cy="179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023" cy="179523"/>
            </a:xfrm>
            <a:custGeom>
              <a:avLst/>
              <a:gdLst/>
              <a:ahLst/>
              <a:cxnLst/>
              <a:rect r="r" b="b" t="t" l="l"/>
              <a:pathLst>
                <a:path h="179523" w="2299023">
                  <a:moveTo>
                    <a:pt x="56762" y="0"/>
                  </a:moveTo>
                  <a:lnTo>
                    <a:pt x="2242261" y="0"/>
                  </a:lnTo>
                  <a:cubicBezTo>
                    <a:pt x="2257315" y="0"/>
                    <a:pt x="2271753" y="5980"/>
                    <a:pt x="2282398" y="16625"/>
                  </a:cubicBezTo>
                  <a:cubicBezTo>
                    <a:pt x="2293043" y="27270"/>
                    <a:pt x="2299023" y="41708"/>
                    <a:pt x="2299023" y="56762"/>
                  </a:cubicBezTo>
                  <a:lnTo>
                    <a:pt x="2299023" y="122760"/>
                  </a:lnTo>
                  <a:cubicBezTo>
                    <a:pt x="2299023" y="137815"/>
                    <a:pt x="2293043" y="152252"/>
                    <a:pt x="2282398" y="162897"/>
                  </a:cubicBezTo>
                  <a:cubicBezTo>
                    <a:pt x="2271753" y="173542"/>
                    <a:pt x="2257315" y="179523"/>
                    <a:pt x="2242261" y="179523"/>
                  </a:cubicBezTo>
                  <a:lnTo>
                    <a:pt x="56762" y="179523"/>
                  </a:lnTo>
                  <a:cubicBezTo>
                    <a:pt x="41708" y="179523"/>
                    <a:pt x="27270" y="173542"/>
                    <a:pt x="16625" y="162897"/>
                  </a:cubicBezTo>
                  <a:cubicBezTo>
                    <a:pt x="5980" y="152252"/>
                    <a:pt x="0" y="137815"/>
                    <a:pt x="0" y="122760"/>
                  </a:cubicBezTo>
                  <a:lnTo>
                    <a:pt x="0" y="56762"/>
                  </a:lnTo>
                  <a:cubicBezTo>
                    <a:pt x="0" y="41708"/>
                    <a:pt x="5980" y="27270"/>
                    <a:pt x="16625" y="16625"/>
                  </a:cubicBezTo>
                  <a:cubicBezTo>
                    <a:pt x="27270" y="5980"/>
                    <a:pt x="41708" y="0"/>
                    <a:pt x="5676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023" cy="217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74588" y="926782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4588" y="4010041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8361880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435729">
            <a:off x="-696093" y="-3780464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798106" y="860107"/>
            <a:ext cx="5199649" cy="490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Automonus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98106" y="1631944"/>
            <a:ext cx="7461194" cy="166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Predicting risk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Sending remindres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Adapting messages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Learning from 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360086"/>
            <a:ext cx="5853180" cy="1762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ROLE OF AGENTIC 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98106" y="4029371"/>
            <a:ext cx="5199649" cy="490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Human Oversight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98106" y="4804049"/>
            <a:ext cx="7461194" cy="166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Approving payments plans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Reviewing edge cases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Handling disputes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Auditing fairness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6844491" y="-3015084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4011079" y="-275965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0535" y="4910099"/>
            <a:ext cx="705511" cy="722674"/>
          </a:xfrm>
          <a:custGeom>
            <a:avLst/>
            <a:gdLst/>
            <a:ahLst/>
            <a:cxnLst/>
            <a:rect r="r" b="b" t="t" l="l"/>
            <a:pathLst>
              <a:path h="722674" w="705511">
                <a:moveTo>
                  <a:pt x="0" y="0"/>
                </a:moveTo>
                <a:lnTo>
                  <a:pt x="705510" y="0"/>
                </a:lnTo>
                <a:lnTo>
                  <a:pt x="705510" y="722674"/>
                </a:lnTo>
                <a:lnTo>
                  <a:pt x="0" y="72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0535" y="4910099"/>
            <a:ext cx="717254" cy="722674"/>
          </a:xfrm>
          <a:custGeom>
            <a:avLst/>
            <a:gdLst/>
            <a:ahLst/>
            <a:cxnLst/>
            <a:rect r="r" b="b" t="t" l="l"/>
            <a:pathLst>
              <a:path h="722674" w="717254">
                <a:moveTo>
                  <a:pt x="0" y="0"/>
                </a:moveTo>
                <a:lnTo>
                  <a:pt x="717254" y="0"/>
                </a:lnTo>
                <a:lnTo>
                  <a:pt x="717254" y="722674"/>
                </a:lnTo>
                <a:lnTo>
                  <a:pt x="0" y="722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38056" y="1019175"/>
            <a:ext cx="9273073" cy="1762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RESPONSIBLE AI GUARDRAILS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8056" y="3508863"/>
            <a:ext cx="12909384" cy="418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BF9F1"/>
                </a:solidFill>
                <a:latin typeface="Canva Sans"/>
                <a:ea typeface="Canva Sans"/>
                <a:cs typeface="Canva Sans"/>
                <a:sym typeface="Canva Sans"/>
              </a:rPr>
              <a:t>Fireness checks :  Detect and mitigate bias segments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BF9F1"/>
                </a:solidFill>
                <a:latin typeface="Canva Sans"/>
                <a:ea typeface="Canva Sans"/>
                <a:cs typeface="Canva Sans"/>
                <a:sym typeface="Canva Sans"/>
              </a:rPr>
              <a:t>Explainability : Clear, understanding decision  for customers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BF9F1"/>
                </a:solidFill>
                <a:latin typeface="Canva Sans"/>
                <a:ea typeface="Canva Sans"/>
                <a:cs typeface="Canva Sans"/>
                <a:sym typeface="Canva Sans"/>
              </a:rPr>
              <a:t>Compliance : Meets regulatory standards like GDPR, ECOA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BF9F1"/>
                </a:solidFill>
                <a:latin typeface="Canva Sans"/>
                <a:ea typeface="Canva Sans"/>
                <a:cs typeface="Canva Sans"/>
                <a:sym typeface="Canva Sans"/>
              </a:rPr>
              <a:t>Human-in-the-Loop : Agents involved in critical decisions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81579">
            <a:off x="11199066" y="124438"/>
            <a:ext cx="10128448" cy="10895890"/>
          </a:xfrm>
          <a:custGeom>
            <a:avLst/>
            <a:gdLst/>
            <a:ahLst/>
            <a:cxnLst/>
            <a:rect r="r" b="b" t="t" l="l"/>
            <a:pathLst>
              <a:path h="10895890" w="10128448">
                <a:moveTo>
                  <a:pt x="0" y="0"/>
                </a:moveTo>
                <a:lnTo>
                  <a:pt x="10128447" y="0"/>
                </a:lnTo>
                <a:lnTo>
                  <a:pt x="10128447" y="10895890"/>
                </a:lnTo>
                <a:lnTo>
                  <a:pt x="0" y="10895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7" t="0" r="-15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0473" y="7962921"/>
            <a:ext cx="5747719" cy="3384081"/>
          </a:xfrm>
          <a:custGeom>
            <a:avLst/>
            <a:gdLst/>
            <a:ahLst/>
            <a:cxnLst/>
            <a:rect r="r" b="b" t="t" l="l"/>
            <a:pathLst>
              <a:path h="3384081" w="5747719">
                <a:moveTo>
                  <a:pt x="0" y="0"/>
                </a:moveTo>
                <a:lnTo>
                  <a:pt x="5747720" y="0"/>
                </a:lnTo>
                <a:lnTo>
                  <a:pt x="5747720" y="3384080"/>
                </a:lnTo>
                <a:lnTo>
                  <a:pt x="0" y="338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02" t="0" r="0" b="-14318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96037" y="8607890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42975" y="4134731"/>
            <a:ext cx="8553382" cy="2277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Business KPI’s  : Lower delinquency (↓25%), cost saving, better recovery rates.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Customer Outcomes : Personilized plans, increased trust, fairness, transparent process.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2975" y="1706421"/>
            <a:ext cx="8553382" cy="1762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EXPECTED BUSINESS IMPACT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100837">
            <a:off x="8982673" y="428119"/>
            <a:ext cx="8310061" cy="8781453"/>
          </a:xfrm>
          <a:custGeom>
            <a:avLst/>
            <a:gdLst/>
            <a:ahLst/>
            <a:cxnLst/>
            <a:rect r="r" b="b" t="t" l="l"/>
            <a:pathLst>
              <a:path h="8781453" w="8310061">
                <a:moveTo>
                  <a:pt x="8310061" y="0"/>
                </a:moveTo>
                <a:lnTo>
                  <a:pt x="0" y="0"/>
                </a:lnTo>
                <a:lnTo>
                  <a:pt x="0" y="8781453"/>
                </a:lnTo>
                <a:lnTo>
                  <a:pt x="8310061" y="8781453"/>
                </a:lnTo>
                <a:lnTo>
                  <a:pt x="8310061" y="0"/>
                </a:lnTo>
                <a:close/>
              </a:path>
            </a:pathLst>
          </a:custGeom>
          <a:blipFill>
            <a:blip r:embed="rId2"/>
            <a:stretch>
              <a:fillRect l="0" t="0" r="-381" b="-186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28665" y="3213525"/>
            <a:ext cx="11411477" cy="220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sz="14508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  <a:r>
              <a:rPr lang="en-US" sz="14508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8665" y="5417085"/>
            <a:ext cx="11411477" cy="831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55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for your time and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DAG8skuc2Ko</dc:identifier>
  <dcterms:modified xsi:type="dcterms:W3CDTF">2011-08-01T06:04:30Z</dcterms:modified>
  <cp:revision>1</cp:revision>
  <dc:title>Black Elegant and Modern Startup Pitch Deck Presentation</dc:title>
</cp:coreProperties>
</file>